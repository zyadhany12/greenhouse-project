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9" Type="http://schemas.openxmlformats.org/officeDocument/2006/relationships/image" Target="../media/image25.png"/><Relationship Id="rId10" Type="http://schemas.openxmlformats.org/officeDocument/2006/relationships/image" Target="../media/image26.png"/><Relationship Id="rId11" Type="http://schemas.openxmlformats.org/officeDocument/2006/relationships/image" Target="../media/image2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Relationship Id="rId8" Type="http://schemas.openxmlformats.org/officeDocument/2006/relationships/image" Target="../media/image34.png"/><Relationship Id="rId9" Type="http://schemas.openxmlformats.org/officeDocument/2006/relationships/image" Target="../media/image35.png"/><Relationship Id="rId10" Type="http://schemas.openxmlformats.org/officeDocument/2006/relationships/image" Target="../media/image36.png"/><Relationship Id="rId11" Type="http://schemas.openxmlformats.org/officeDocument/2006/relationships/image" Target="../media/image37.png"/><Relationship Id="rId12" Type="http://schemas.openxmlformats.org/officeDocument/2006/relationships/image" Target="../media/image3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Relationship Id="rId8" Type="http://schemas.openxmlformats.org/officeDocument/2006/relationships/image" Target="../media/image45.png"/><Relationship Id="rId9" Type="http://schemas.openxmlformats.org/officeDocument/2006/relationships/image" Target="../media/image46.png"/><Relationship Id="rId10" Type="http://schemas.openxmlformats.org/officeDocument/2006/relationships/image" Target="../media/image47.png"/><Relationship Id="rId11" Type="http://schemas.openxmlformats.org/officeDocument/2006/relationships/image" Target="../media/image4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5275" y="1971675"/>
            <a:ext cx="11601450" cy="2019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5250" i="0" u="none">
                <a:solidFill>
                  <a:srgbClr val="4ADE80"/>
                </a:solidFill>
                <a:latin typeface="Poppins"/>
              </a:rPr>
              <a:t>Greenhouse</a:t>
            </a:r>
            <a:r>
              <a:rPr b="1" sz="5250" i="0" u="none">
                <a:solidFill>
                  <a:srgbClr val="F8FAFC"/>
                </a:solidFill>
                <a:latin typeface="Poppins"/>
              </a:rPr>
              <a:t> Climate Control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4181475"/>
            <a:ext cx="110490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CBD5E1"/>
                </a:solidFill>
                <a:latin typeface="Lato"/>
              </a:rPr>
              <a:t>AVR Embedded Systems Final Project</a:t>
            </a:r>
            <a:r>
              <a:t>
</a:t>
            </a:r>
            <a:r>
              <a:rPr b="0" sz="1350" i="0" u="none">
                <a:solidFill>
                  <a:srgbClr val="CBD5E1"/>
                </a:solidFill>
                <a:latin typeface="Lato"/>
              </a:rPr>
              <a:t> NTI Embedded System G1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19750" y="2409825"/>
            <a:ext cx="952500" cy="47625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0671" y="2743200"/>
            <a:ext cx="5250656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500" i="0" u="none">
                <a:solidFill>
                  <a:srgbClr val="F8FAFC"/>
                </a:solidFill>
                <a:latin typeface="Poppins"/>
              </a:rP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62250" y="3790950"/>
            <a:ext cx="666750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b="0" sz="1650" i="0" u="none">
                <a:solidFill>
                  <a:srgbClr val="CBD5E1"/>
                </a:solidFill>
                <a:latin typeface="Lato"/>
              </a:rPr>
              <a:t>An embedded application developed using the ATmega32 AVR Microcontroller. It continuously monitors environmental conditions and automatically controls actuators to maintain optimal growing conditions.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366962"/>
            <a:ext cx="5286375" cy="307657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366962"/>
            <a:ext cx="5286375" cy="30765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9391" y="2757487"/>
            <a:ext cx="473059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2400" i="0" u="none">
                <a:solidFill>
                  <a:srgbClr val="4ADE80"/>
                </a:solidFill>
                <a:latin typeface="Poppins"/>
              </a:rPr>
              <a:t>Software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12016" y="2757487"/>
            <a:ext cx="473059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2400" i="0" u="none">
                <a:solidFill>
                  <a:srgbClr val="4ADE80"/>
                </a:solidFill>
                <a:latin typeface="Poppins"/>
              </a:rPr>
              <a:t>Hardware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900" y="3452812"/>
            <a:ext cx="952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CBD5E1"/>
                </a:solidFill>
                <a:latin typeface="Lato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0150" y="3452812"/>
            <a:ext cx="4267200" cy="257175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CBD5E1"/>
                </a:solidFill>
                <a:latin typeface="Lato"/>
              </a:rPr>
              <a:t>Apply Embedded C programming concepts.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900" y="3852862"/>
            <a:ext cx="952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CBD5E1"/>
                </a:solidFill>
                <a:latin typeface="Lato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0150" y="3852862"/>
            <a:ext cx="4267200" cy="257175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CBD5E1"/>
                </a:solidFill>
                <a:latin typeface="Lato"/>
              </a:rPr>
              <a:t>Develop reusable peripheral drivers.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" y="4252912"/>
            <a:ext cx="952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CBD5E1"/>
                </a:solidFill>
                <a:latin typeface="Lato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0150" y="4252912"/>
            <a:ext cx="4267200" cy="257175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CBD5E1"/>
                </a:solidFill>
                <a:latin typeface="Lato"/>
              </a:rPr>
              <a:t>Design an event-driven State Machine.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4900" y="4652962"/>
            <a:ext cx="952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CBD5E1"/>
                </a:solidFill>
                <a:latin typeface="Lato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0150" y="4652962"/>
            <a:ext cx="4267200" cy="257175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CBD5E1"/>
                </a:solidFill>
                <a:latin typeface="Lato"/>
              </a:rPr>
              <a:t>Practice modular software architecture.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67525" y="3452812"/>
            <a:ext cx="952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CBD5E1"/>
                </a:solidFill>
                <a:latin typeface="Lato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2775" y="3452812"/>
            <a:ext cx="4267200" cy="257175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CBD5E1"/>
                </a:solidFill>
                <a:latin typeface="Lato"/>
              </a:rPr>
              <a:t>Interface analog sensors using ADC.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7525" y="3852862"/>
            <a:ext cx="952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CBD5E1"/>
                </a:solidFill>
                <a:latin typeface="Lato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62775" y="3852862"/>
            <a:ext cx="4267200" cy="257175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CBD5E1"/>
                </a:solidFill>
                <a:latin typeface="Lato"/>
              </a:rPr>
              <a:t>Control actuators through digital outputs.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67525" y="4252912"/>
            <a:ext cx="952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CBD5E1"/>
                </a:solidFill>
                <a:latin typeface="Lato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62775" y="4252912"/>
            <a:ext cx="4267200" cy="257175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CBD5E1"/>
                </a:solidFill>
                <a:latin typeface="Lato"/>
              </a:rPr>
              <a:t>Build an automatic climate control system.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67525" y="4652962"/>
            <a:ext cx="952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CBD5E1"/>
                </a:solidFill>
                <a:latin typeface="Lato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62775" y="4652962"/>
            <a:ext cx="4267200" cy="257175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CBD5E1"/>
                </a:solidFill>
                <a:latin typeface="Lato"/>
              </a:rPr>
              <a:t>Implement configurable operating parameters.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000" i="0" u="none">
                <a:solidFill>
                  <a:srgbClr val="F8FAFC"/>
                </a:solidFill>
                <a:latin typeface="Poppins"/>
              </a:rPr>
              <a:t>Core Objectives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25" y="1881187"/>
            <a:ext cx="5286375" cy="3333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85875" y="1881187"/>
            <a:ext cx="457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F8FAFC"/>
                </a:solidFill>
                <a:latin typeface="Lato"/>
              </a:rPr>
              <a:t>Monitoring:</a:t>
            </a:r>
            <a:r>
              <a:rPr b="0" sz="1500" i="0" u="none">
                <a:solidFill>
                  <a:srgbClr val="CBD5E1"/>
                </a:solidFill>
                <a:latin typeface="Lato"/>
              </a:rPr>
              <a:t> Temperature (LM35) and Soil Moisture sensing.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5875" y="2690812"/>
            <a:ext cx="457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F8FAFC"/>
                </a:solidFill>
                <a:latin typeface="Lato"/>
              </a:rPr>
              <a:t>Automation:</a:t>
            </a:r>
            <a:r>
              <a:rPr b="0" sz="1500" i="0" u="none">
                <a:solidFill>
                  <a:srgbClr val="CBD5E1"/>
                </a:solidFill>
                <a:latin typeface="Lato"/>
              </a:rPr>
              <a:t> Automatic Irrigation, Fan, and Heater control.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5875" y="3500437"/>
            <a:ext cx="457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F8FAFC"/>
                </a:solidFill>
                <a:latin typeface="Lato"/>
              </a:rPr>
              <a:t>Control Modes:</a:t>
            </a:r>
            <a:r>
              <a:rPr b="0" sz="1500" i="0" u="none">
                <a:solidFill>
                  <a:srgbClr val="CBD5E1"/>
                </a:solidFill>
                <a:latin typeface="Lato"/>
              </a:rPr>
              <a:t> Auto / Manual switching with Parameter Configuration.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5875" y="4310062"/>
            <a:ext cx="457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F8FAFC"/>
                </a:solidFill>
                <a:latin typeface="Lato"/>
              </a:rPr>
              <a:t>User Interface:</a:t>
            </a:r>
            <a:r>
              <a:rPr b="0" sz="1500" i="0" u="none">
                <a:solidFill>
                  <a:srgbClr val="CBD5E1"/>
                </a:solidFill>
                <a:latin typeface="Lato"/>
              </a:rPr>
              <a:t> LCD 16x2 Display and Keypad Navigation.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5875" y="5119687"/>
            <a:ext cx="457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F8FAFC"/>
                </a:solidFill>
                <a:latin typeface="Lato"/>
              </a:rPr>
              <a:t>Alerts:</a:t>
            </a:r>
            <a:r>
              <a:rPr b="0" sz="1500" i="0" u="none">
                <a:solidFill>
                  <a:srgbClr val="CBD5E1"/>
                </a:solidFill>
                <a:latin typeface="Lato"/>
              </a:rPr>
              <a:t> Warning Indicators via LEDs for abnormal conditions.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881187"/>
            <a:ext cx="5286375" cy="33337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" y="1895475"/>
            <a:ext cx="238125" cy="2762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2705100"/>
            <a:ext cx="333375" cy="2762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3514725"/>
            <a:ext cx="266700" cy="2762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625" y="4324350"/>
            <a:ext cx="304800" cy="2762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625" y="5133975"/>
            <a:ext cx="266700" cy="2762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000" i="0" u="none">
                <a:solidFill>
                  <a:srgbClr val="F8FAFC"/>
                </a:solidFill>
                <a:latin typeface="Poppins"/>
              </a:rPr>
              <a:t>Key System Features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71500" y="2252662"/>
            <a:ext cx="11049000" cy="3305175"/>
          </a:xfrm>
          <a:prstGeom prst="roundRect">
            <a:avLst>
              <a:gd name="adj" fmla="val 0"/>
            </a:avLst>
          </a:prstGeom>
          <a:solidFill>
            <a:srgbClr val="1E29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71500" y="2252662"/>
          <a:ext cx="11048999" cy="3305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4016126"/>
                <a:gridCol w="7032873"/>
              </a:tblGrid>
              <a:tr h="472167"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4ADE80"/>
                          </a:solidFill>
                          <a:latin typeface="Poppins"/>
                        </a:rPr>
                        <a:t>Component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4ADE80"/>
                          </a:solidFill>
                          <a:latin typeface="Poppins"/>
                        </a:rPr>
                        <a:t>Purpose / Function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72167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CBD5E1"/>
                          </a:solidFill>
                          <a:latin typeface="Lato"/>
                        </a:rPr>
                        <a:t>ATmega32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Lato"/>
                        </a:rPr>
                        <a:t>Main Microcontroller Unit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72167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CBD5E1"/>
                          </a:solidFill>
                          <a:latin typeface="Lato"/>
                        </a:rPr>
                        <a:t>LM35 &amp; Soil Sensor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Lato"/>
                        </a:rPr>
                        <a:t>Temperature and Soil Moisture Monitoring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72167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CBD5E1"/>
                          </a:solidFill>
                          <a:latin typeface="Lato"/>
                        </a:rPr>
                        <a:t>LCD 16x2 &amp; Keypad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Lato"/>
                        </a:rPr>
                        <a:t>Display Information and User Interface Navigation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72167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CBD5E1"/>
                          </a:solidFill>
                          <a:latin typeface="Lato"/>
                        </a:rPr>
                        <a:t>Relay Module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Lato"/>
                        </a:rPr>
                        <a:t>Pump / Fan / Heater Control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72167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CBD5E1"/>
                          </a:solidFill>
                          <a:latin typeface="Lato"/>
                        </a:rPr>
                        <a:t>Water Pump, Fan, Heater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Lato"/>
                        </a:rPr>
                        <a:t>Irrigation, Cooling, and Heating Actuators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72173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CBD5E1"/>
                          </a:solidFill>
                          <a:latin typeface="Lato"/>
                        </a:rPr>
                        <a:t>LEDs &amp; Timer0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Lato"/>
                        </a:rPr>
                        <a:t>Warning Indicators and Periodic Sampling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71500" y="2795587"/>
            <a:ext cx="4016126" cy="1905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87626" y="2795587"/>
            <a:ext cx="7032873" cy="1905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3267075"/>
            <a:ext cx="401612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87626" y="3267075"/>
            <a:ext cx="703287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3724275"/>
            <a:ext cx="401612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87626" y="3724275"/>
            <a:ext cx="703287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" y="4181475"/>
            <a:ext cx="401612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87626" y="4181475"/>
            <a:ext cx="703287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1500" y="4638675"/>
            <a:ext cx="401612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87626" y="4638675"/>
            <a:ext cx="703287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1500" y="5095875"/>
            <a:ext cx="401612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87626" y="5095875"/>
            <a:ext cx="703287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000" i="0" u="none">
                <a:solidFill>
                  <a:srgbClr val="F8FAFC"/>
                </a:solidFill>
                <a:latin typeface="Poppins"/>
              </a:rPr>
              <a:t>Hardware Components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128837"/>
            <a:ext cx="3429000" cy="355282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2128837"/>
            <a:ext cx="3429000" cy="35528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2128837"/>
            <a:ext cx="3429000" cy="35528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70835" y="3157537"/>
            <a:ext cx="26303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2400" i="0" u="none">
                <a:solidFill>
                  <a:srgbClr val="F8FAFC"/>
                </a:solidFill>
                <a:latin typeface="Poppins"/>
              </a:rPr>
              <a:t>Automatic Mode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6775" y="3757612"/>
            <a:ext cx="2838450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CBD5E1"/>
                </a:solidFill>
                <a:latin typeface="Lato"/>
              </a:rPr>
              <a:t>System triggers water pump if moisture drops, turns on fan if temp is high, or heater if temp is low. Fan and heater are mutually exclusive.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35867" y="3157537"/>
            <a:ext cx="212026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2400" i="0" u="none">
                <a:solidFill>
                  <a:srgbClr val="F8FAFC"/>
                </a:solidFill>
                <a:latin typeface="Poppins"/>
              </a:rPr>
              <a:t>Manual Mode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76775" y="3757612"/>
            <a:ext cx="2838450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CBD5E1"/>
                </a:solidFill>
                <a:latin typeface="Lato"/>
              </a:rPr>
              <a:t>Allows the user to manually control the Water Pump, Cooling Fan, and Heater. User can return to automatic mode at any time.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5813" y="3157537"/>
            <a:ext cx="298037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2400" i="0" u="none">
                <a:solidFill>
                  <a:srgbClr val="F8FAFC"/>
                </a:solidFill>
                <a:latin typeface="Poppins"/>
              </a:rPr>
              <a:t>Configuration Menu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86775" y="4214812"/>
            <a:ext cx="2838450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CBD5E1"/>
                </a:solidFill>
                <a:latin typeface="Lato"/>
              </a:rPr>
              <a:t>Admin/User can configure Max/Min Temperature, Soil Moisture Threshold, Sampling Period, and toggle Auto/Manual modes.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0250" y="2471737"/>
            <a:ext cx="571500" cy="4572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95975" y="2471737"/>
            <a:ext cx="400050" cy="4572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77400" y="2471737"/>
            <a:ext cx="457200" cy="457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000" i="0" u="none">
                <a:solidFill>
                  <a:srgbClr val="F8FAFC"/>
                </a:solidFill>
                <a:latin typeface="Poppins"/>
              </a:rPr>
              <a:t>Functional Requirements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524000"/>
            <a:ext cx="5286375" cy="46729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5550693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000" i="0" u="none">
                <a:solidFill>
                  <a:srgbClr val="F8FAFC"/>
                </a:solidFill>
                <a:latin typeface="Poppins"/>
              </a:rPr>
              <a:t>Software Layers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1524000"/>
            <a:ext cx="555069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400" i="0" u="none">
                <a:solidFill>
                  <a:srgbClr val="4ADE80"/>
                </a:solidFill>
                <a:latin typeface="Poppins"/>
              </a:rPr>
              <a:t>Layered Design Pattern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124075"/>
            <a:ext cx="528637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Lato"/>
              </a:rPr>
              <a:t>The software follows a strict Layered Architecture, promoting code reusability, modular design, and easy maintenance.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200" y="2133600"/>
            <a:ext cx="3835449" cy="35433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4296" y="2133600"/>
            <a:ext cx="282254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Poppins"/>
              </a:rPr>
              <a:t>Input Interfaces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8904" y="3371850"/>
            <a:ext cx="200025" cy="228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8904" y="3790950"/>
            <a:ext cx="200025" cy="228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8904" y="4210050"/>
            <a:ext cx="200025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4851" y="2757487"/>
            <a:ext cx="762000" cy="76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90988" y="3709987"/>
            <a:ext cx="169021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400" i="0" u="none">
                <a:solidFill>
                  <a:srgbClr val="F8FAFC"/>
                </a:solidFill>
                <a:latin typeface="Poppins"/>
              </a:rPr>
              <a:t>ATmega32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5288" y="4452937"/>
            <a:ext cx="13811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b="0" sz="1200" i="0" u="none">
                <a:solidFill>
                  <a:srgbClr val="CBD5E1"/>
                </a:solidFill>
                <a:latin typeface="Lato"/>
              </a:rPr>
              <a:t>Central Control Unit</a:t>
            </a:r>
            <a:r>
              <a:t>
</a:t>
            </a:r>
            <a:r>
              <a:rPr b="0" sz="1200" i="0" u="none">
                <a:solidFill>
                  <a:srgbClr val="CBD5E1"/>
                </a:solidFill>
                <a:latin typeface="Lato"/>
              </a:rPr>
              <a:t> (ADC, GPIO, Timer0)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2921" y="3371850"/>
            <a:ext cx="200025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2921" y="3790950"/>
            <a:ext cx="200025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2921" y="4210050"/>
            <a:ext cx="200025" cy="228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865014" y="2133600"/>
            <a:ext cx="282254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Poppins"/>
              </a:rPr>
              <a:t>Output Interfaces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050" y="3033712"/>
            <a:ext cx="381000" cy="2857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304925" y="2962275"/>
            <a:ext cx="1114425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8FAFC"/>
                </a:solidFill>
                <a:latin typeface="Lato"/>
              </a:rPr>
              <a:t>LM35 Sensor</a:t>
            </a:r>
            <a:r>
              <a:rPr b="0" sz="1200" i="0" u="none">
                <a:solidFill>
                  <a:srgbClr val="94A3B8"/>
                </a:solidFill>
                <a:latin typeface="Lato"/>
              </a:rPr>
              <a:t>Analog Temp Input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050" y="4071937"/>
            <a:ext cx="381000" cy="2857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04925" y="4000500"/>
            <a:ext cx="13335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8FAFC"/>
                </a:solidFill>
                <a:latin typeface="Lato"/>
              </a:rPr>
              <a:t>Soil Moisture</a:t>
            </a:r>
            <a:r>
              <a:rPr b="0" sz="1200" i="0" u="none">
                <a:solidFill>
                  <a:srgbClr val="94A3B8"/>
                </a:solidFill>
                <a:latin typeface="Lato"/>
              </a:rPr>
              <a:t>Analog Moisture Input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1050" y="5110162"/>
            <a:ext cx="381000" cy="2857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304925" y="5038725"/>
            <a:ext cx="10477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8FAFC"/>
                </a:solidFill>
                <a:latin typeface="Lato"/>
              </a:rPr>
              <a:t>4x4 Keypad</a:t>
            </a:r>
            <a:r>
              <a:rPr b="0" sz="1200" i="0" u="none">
                <a:solidFill>
                  <a:srgbClr val="94A3B8"/>
                </a:solidFill>
                <a:latin typeface="Lato"/>
              </a:rPr>
              <a:t>Digital User Input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1767" y="3033712"/>
            <a:ext cx="381000" cy="2857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665642" y="2962275"/>
            <a:ext cx="1285875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8FAFC"/>
                </a:solidFill>
                <a:latin typeface="Lato"/>
              </a:rPr>
              <a:t>LCD 16x2</a:t>
            </a:r>
            <a:r>
              <a:rPr b="0" sz="1200" i="0" u="none">
                <a:solidFill>
                  <a:srgbClr val="94A3B8"/>
                </a:solidFill>
                <a:latin typeface="Lato"/>
              </a:rPr>
              <a:t>System Status Display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41767" y="4071937"/>
            <a:ext cx="381000" cy="2857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665642" y="4000500"/>
            <a:ext cx="1647825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8FAFC"/>
                </a:solidFill>
                <a:latin typeface="Lato"/>
              </a:rPr>
              <a:t>Relay Module</a:t>
            </a:r>
            <a:r>
              <a:rPr b="0" sz="1200" i="0" u="none">
                <a:solidFill>
                  <a:srgbClr val="94A3B8"/>
                </a:solidFill>
                <a:latin typeface="Lato"/>
              </a:rPr>
              <a:t>Controls Pump, Fan, Heater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41767" y="5110162"/>
            <a:ext cx="381000" cy="2857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665642" y="5038725"/>
            <a:ext cx="12763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8FAFC"/>
                </a:solidFill>
                <a:latin typeface="Lato"/>
              </a:rPr>
              <a:t>Warning LEDs</a:t>
            </a:r>
            <a:r>
              <a:rPr b="0" sz="1200" i="0" u="none">
                <a:solidFill>
                  <a:srgbClr val="94A3B8"/>
                </a:solidFill>
                <a:latin typeface="Lato"/>
              </a:rPr>
              <a:t>Fault/Alert Indicators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000" i="0" u="none">
                <a:solidFill>
                  <a:srgbClr val="F8FAFC"/>
                </a:solidFill>
                <a:latin typeface="Poppins"/>
              </a:rPr>
              <a:t>Hardware System Architecture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8250" y="1347787"/>
            <a:ext cx="2095500" cy="44767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2462" y="2214562"/>
            <a:ext cx="3267075" cy="4476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8250" y="3081337"/>
            <a:ext cx="2095500" cy="4476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7287" y="6015037"/>
            <a:ext cx="2257425" cy="4476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9762" y="4062412"/>
            <a:ext cx="2657475" cy="4476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66925" y="4929187"/>
            <a:ext cx="2343150" cy="6667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05750" y="4062412"/>
            <a:ext cx="2095500" cy="4476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91462" y="4929187"/>
            <a:ext cx="2124075" cy="6667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24562" y="1909762"/>
            <a:ext cx="142875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24562" y="2776537"/>
            <a:ext cx="142875" cy="190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215890" y="1481137"/>
            <a:ext cx="176022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4ADE80"/>
                </a:solidFill>
                <a:latin typeface="Lato"/>
              </a:rPr>
              <a:t>System Initialization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0813" y="2347912"/>
            <a:ext cx="2990373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4ADE80"/>
                </a:solidFill>
                <a:latin typeface="Lato"/>
              </a:rPr>
              <a:t>Timer0 Interrupt: Read ADC (LM35 &amp; Soil)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5890" y="3214687"/>
            <a:ext cx="176022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4ADE80"/>
                </a:solidFill>
                <a:latin typeface="Lato"/>
              </a:rPr>
              <a:t>Is System in Auto Mode?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33750" y="5757862"/>
            <a:ext cx="2952750" cy="1905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05500" y="5757862"/>
            <a:ext cx="2952750" cy="1905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130879" y="6148387"/>
            <a:ext cx="1930241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4ADE80"/>
                </a:solidFill>
                <a:latin typeface="Lato"/>
              </a:rPr>
              <a:t>Update LCD Display &amp; Wait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19412" y="3738562"/>
            <a:ext cx="63817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ACC15"/>
                </a:solidFill>
                <a:latin typeface="Lato"/>
              </a:rPr>
              <a:t>YES (Auto)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67062" y="4624387"/>
            <a:ext cx="142875" cy="1905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572500" y="3738562"/>
            <a:ext cx="7620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ACC15"/>
                </a:solidFill>
                <a:latin typeface="Lato"/>
              </a:rPr>
              <a:t>NO (Manual)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82062" y="4624387"/>
            <a:ext cx="142875" cy="1905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063353" y="4195762"/>
            <a:ext cx="2350293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4ADE80"/>
                </a:solidFill>
                <a:latin typeface="Lato"/>
              </a:rPr>
              <a:t>Compare Readings vs Thresholds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28373" y="5062537"/>
            <a:ext cx="2020252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4ADE80"/>
                </a:solidFill>
                <a:latin typeface="Lato"/>
              </a:rPr>
              <a:t>Activate Appropriate Relays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76475" y="5291137"/>
            <a:ext cx="19240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b="0" sz="900" i="0" u="none">
                <a:solidFill>
                  <a:srgbClr val="CBD5E1"/>
                </a:solidFill>
                <a:latin typeface="Lato"/>
              </a:rPr>
              <a:t>(Pump, Fan, or Heater)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73390" y="4195762"/>
            <a:ext cx="176022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4ADE80"/>
                </a:solidFill>
                <a:latin typeface="Lato"/>
              </a:rPr>
              <a:t>Read Keypad Inputs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58388" y="5062537"/>
            <a:ext cx="1790223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4ADE80"/>
                </a:solidFill>
                <a:latin typeface="Lato"/>
              </a:rPr>
              <a:t>Execute User Commands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01012" y="5291137"/>
            <a:ext cx="17049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b="0" sz="900" i="0" u="none">
                <a:solidFill>
                  <a:srgbClr val="CBD5E1"/>
                </a:solidFill>
                <a:latin typeface="Lato"/>
              </a:rPr>
              <a:t>(Toggle specific actuator)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1500" y="395287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000" i="0" u="none">
                <a:solidFill>
                  <a:srgbClr val="F8FAFC"/>
                </a:solidFill>
                <a:latin typeface="Poppins"/>
              </a:rPr>
              <a:t>System Execution Flow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47750" y="2452687"/>
            <a:ext cx="495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F8FAFC"/>
                </a:solidFill>
                <a:latin typeface="Lato"/>
              </a:rPr>
              <a:t>Layered Architecture:</a:t>
            </a:r>
            <a:r>
              <a:rPr b="0" sz="1500" i="0" u="none">
                <a:solidFill>
                  <a:srgbClr val="CBD5E1"/>
                </a:solidFill>
                <a:latin typeface="Lato"/>
              </a:rPr>
              <a:t> Clean separation of concerns.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7750" y="2976562"/>
            <a:ext cx="495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F8FAFC"/>
                </a:solidFill>
                <a:latin typeface="Lato"/>
              </a:rPr>
              <a:t>Modular Design:</a:t>
            </a:r>
            <a:r>
              <a:rPr b="0" sz="1500" i="0" u="none">
                <a:solidFill>
                  <a:srgbClr val="CBD5E1"/>
                </a:solidFill>
                <a:latin typeface="Lato"/>
              </a:rPr>
              <a:t> Self-contained software modules.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7750" y="3500437"/>
            <a:ext cx="495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F8FAFC"/>
                </a:solidFill>
                <a:latin typeface="Lato"/>
              </a:rPr>
              <a:t>Code Reusability:</a:t>
            </a:r>
            <a:r>
              <a:rPr b="0" sz="1500" i="0" u="none">
                <a:solidFill>
                  <a:srgbClr val="CBD5E1"/>
                </a:solidFill>
                <a:latin typeface="Lato"/>
              </a:rPr>
              <a:t> Write once, deploy anywhere.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7750" y="4024312"/>
            <a:ext cx="495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F8FAFC"/>
                </a:solidFill>
                <a:latin typeface="Lato"/>
              </a:rPr>
              <a:t>Low RAM Usage:</a:t>
            </a:r>
            <a:r>
              <a:rPr b="0" sz="1500" i="0" u="none">
                <a:solidFill>
                  <a:srgbClr val="CBD5E1"/>
                </a:solidFill>
                <a:latin typeface="Lato"/>
              </a:rPr>
              <a:t> Optimized for ATmega32 constraints.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7750" y="4548187"/>
            <a:ext cx="495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F8FAFC"/>
                </a:solidFill>
                <a:latin typeface="Lato"/>
              </a:rPr>
              <a:t>Fast Response Time:</a:t>
            </a:r>
            <a:r>
              <a:rPr b="0" sz="1500" i="0" u="none">
                <a:solidFill>
                  <a:srgbClr val="CBD5E1"/>
                </a:solidFill>
                <a:latin typeface="Lato"/>
              </a:rPr>
              <a:t> Event-driven state machine.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500" y="2452687"/>
            <a:ext cx="495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F8FAFC"/>
                </a:solidFill>
                <a:latin typeface="Lato"/>
              </a:rPr>
              <a:t>Easy Maintenance:</a:t>
            </a:r>
            <a:r>
              <a:rPr b="0" sz="1500" i="0" u="none">
                <a:solidFill>
                  <a:srgbClr val="CBD5E1"/>
                </a:solidFill>
                <a:latin typeface="Lato"/>
              </a:rPr>
              <a:t> Centralized control logic.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500" y="2976562"/>
            <a:ext cx="495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F8FAFC"/>
                </a:solidFill>
                <a:latin typeface="Lato"/>
              </a:rPr>
              <a:t>Scalable Software:</a:t>
            </a:r>
            <a:r>
              <a:rPr b="0" sz="1500" i="0" u="none">
                <a:solidFill>
                  <a:srgbClr val="CBD5E1"/>
                </a:solidFill>
                <a:latin typeface="Lato"/>
              </a:rPr>
              <a:t> Easy to add new sensors/actuators.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7500" y="3500437"/>
            <a:ext cx="495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F8FAFC"/>
                </a:solidFill>
                <a:latin typeface="Lato"/>
              </a:rPr>
              <a:t>Portable Drivers:</a:t>
            </a:r>
            <a:r>
              <a:rPr b="0" sz="1500" i="0" u="none">
                <a:solidFill>
                  <a:srgbClr val="CBD5E1"/>
                </a:solidFill>
                <a:latin typeface="Lato"/>
              </a:rPr>
              <a:t> MCAL designed for easy porting.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67500" y="4024312"/>
            <a:ext cx="4953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F8FAFC"/>
                </a:solidFill>
                <a:latin typeface="Lato"/>
              </a:rPr>
              <a:t>Hardware Abstraction:</a:t>
            </a:r>
            <a:r>
              <a:rPr b="0" sz="1500" i="0" u="none">
                <a:solidFill>
                  <a:srgbClr val="CBD5E1"/>
                </a:solidFill>
                <a:latin typeface="Lato"/>
              </a:rPr>
              <a:t> HAL protects APP from hardware specifics.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67500" y="4833937"/>
            <a:ext cx="495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F8FAFC"/>
                </a:solidFill>
                <a:latin typeface="Lato"/>
              </a:rPr>
              <a:t>Efficient ADC Sampling:</a:t>
            </a:r>
            <a:r>
              <a:rPr b="0" sz="1500" i="0" u="none">
                <a:solidFill>
                  <a:srgbClr val="CBD5E1"/>
                </a:solidFill>
                <a:latin typeface="Lato"/>
              </a:rPr>
              <a:t> Timer0 based periodic sampling.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466975"/>
            <a:ext cx="304800" cy="2762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990850"/>
            <a:ext cx="304800" cy="2762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514725"/>
            <a:ext cx="266700" cy="2762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038600"/>
            <a:ext cx="304800" cy="2762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562475"/>
            <a:ext cx="238125" cy="2762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1250" y="2466975"/>
            <a:ext cx="266700" cy="2762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2990850"/>
            <a:ext cx="266700" cy="2762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91250" y="3514725"/>
            <a:ext cx="266700" cy="2762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91250" y="4038600"/>
            <a:ext cx="266700" cy="2762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91250" y="4848225"/>
            <a:ext cx="238125" cy="27622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000" i="0" u="none">
                <a:solidFill>
                  <a:srgbClr val="F8FAFC"/>
                </a:solidFill>
                <a:latin typeface="Poppins"/>
              </a:rPr>
              <a:t>Non-Functional Requirements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5275" y="2519362"/>
            <a:ext cx="116014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6000" i="0" u="none">
                <a:solidFill>
                  <a:srgbClr val="4ADE80"/>
                </a:solidFill>
                <a:latin typeface="Poppins"/>
              </a:rP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3852862"/>
            <a:ext cx="11049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b="0" sz="1800" i="0" u="none">
                <a:solidFill>
                  <a:srgbClr val="F8FAFC"/>
                </a:solidFill>
                <a:latin typeface="Lato"/>
              </a:rPr>
              <a:t>Thank you for reviewing the Greenhouse Climate Control System details.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81300" y="3138487"/>
            <a:ext cx="66294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81300" y="3900487"/>
            <a:ext cx="66294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81300" y="3900487"/>
            <a:ext cx="66294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1300" y="3281362"/>
            <a:ext cx="857250" cy="476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76675" y="3288506"/>
            <a:ext cx="553402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CBD5E1"/>
                </a:solidFill>
                <a:latin typeface="Lato"/>
              </a:rPr>
              <a:t>https://circuitdigest.com/sites/default/files/projectimage_mic/LCD-Interfacing-with-AVR.jpg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76675" y="3521868"/>
            <a:ext cx="55340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BD5E1"/>
                </a:solidFill>
                <a:latin typeface="La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Lato"/>
              </a:rPr>
              <a:t>circuitdigest.com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1300" y="4052887"/>
            <a:ext cx="857250" cy="4762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876675" y="4060031"/>
            <a:ext cx="553402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CBD5E1"/>
                </a:solidFill>
                <a:latin typeface="Lato"/>
              </a:rPr>
              <a:t>https://stemvolt.in/wp-content/uploads/2026/01/LM35D-Analog-Temperature-Sensor-Module-2.jpg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76675" y="4293393"/>
            <a:ext cx="55340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BD5E1"/>
                </a:solidFill>
                <a:latin typeface="La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Lato"/>
              </a:rPr>
              <a:t>stemvolt.in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000" i="0" u="none">
                <a:solidFill>
                  <a:srgbClr val="F8FAFC"/>
                </a:solidFill>
                <a:latin typeface="Poppins"/>
              </a:rPr>
              <a:t>Image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